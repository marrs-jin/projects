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5" r:id="rId8"/>
    <p:sldId id="263" r:id="rId9"/>
    <p:sldId id="264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780" y="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4B57F-0861-44F3-8DED-2070BEBF61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3B0006-9744-4023-BD8B-0A922DBD42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83A8F-09E3-4018-8814-A0755D479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84720-121C-43A3-9AFA-080A23EB2B13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7E5D2-9846-4104-B66A-392D79466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FB68A-E0DD-4AFE-83FC-9513BA974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7A2EB-CE7D-48BE-9AAD-32F21B312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462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94A2B-E4CB-49EC-A484-3DDFC3CF9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D3A1D-88C8-4DB2-B744-FEA77900C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BEC90-5E65-453B-90A1-BD6893E3B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84720-121C-43A3-9AFA-080A23EB2B13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86181-E10A-4DED-8817-6D6271FA0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08336-D911-4253-A4A0-FCB62F4E3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7A2EB-CE7D-48BE-9AAD-32F21B312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139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44358-5F93-44D6-A9A6-15FF4AFDB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EF967-4F55-4DD4-91F9-20B0BA052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1D9FA-2AA4-45B5-883D-2E1DB0D3B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84720-121C-43A3-9AFA-080A23EB2B13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41BF7-DC55-4CCE-A7E7-DA1D8818F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D991F-B87A-4095-8531-1F77AF7A1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7A2EB-CE7D-48BE-9AAD-32F21B312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767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EDBAE-3F6F-4A20-A359-99039FB79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0E7F1-22A4-48A5-BE84-4BBE5F6E47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4F6F77-C2D2-466C-880B-02EFFA05FD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F5B68E-F46D-4B2B-AEA7-6DDDFB0BD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84720-121C-43A3-9AFA-080A23EB2B13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27344F-4A53-418C-8B3D-294998C52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B79432-0000-4A5E-BDF9-1D64618DF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7A2EB-CE7D-48BE-9AAD-32F21B312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375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5EAC2-984B-4E06-B619-EF2251411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1C376-F44C-4C25-A40A-F3344E8A8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401E16-96B9-46E8-BD87-24F5AB0130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218B71-E0CD-4B3B-B020-D0DEE7046D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65DAE9-AEF2-4B01-A45D-CED65954F7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680F60-A64C-46C6-8E0B-D22EF5924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84720-121C-43A3-9AFA-080A23EB2B13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60275C-B4F6-4B8D-BF31-B05798896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170FB7-3359-43C1-A583-72DB22DB5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7A2EB-CE7D-48BE-9AAD-32F21B312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315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378D5-E5E6-4822-87B2-230C2CE7A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380B0F-F79B-4854-B0E7-3AABCE403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84720-121C-43A3-9AFA-080A23EB2B13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1C4B8-6F6A-4A41-AC34-441339570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4E12A0-3C61-42F5-BD76-386417263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7A2EB-CE7D-48BE-9AAD-32F21B312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698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5AA3F7-C763-4E56-8120-760772402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84720-121C-43A3-9AFA-080A23EB2B13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D9B363-CBB7-4653-8B17-3DC7C234D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238960-5F2B-4FA1-8CC5-8509D6594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7A2EB-CE7D-48BE-9AAD-32F21B312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871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49CDB-0FCC-4C7D-8411-4055CE45B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125FB-6349-44DE-8031-B63B6C047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CF8759-AA1B-450E-B9E5-E0C58609AA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9C9710-D8E4-4C13-9496-1FF31C858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84720-121C-43A3-9AFA-080A23EB2B13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AA69B0-EDE5-4C59-BAEC-A3554FD07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96DE30-4BCD-4E31-8F47-081125DD7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7A2EB-CE7D-48BE-9AAD-32F21B312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723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18575-A8DD-4B46-8A2C-BD33E94CB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301437-99D6-4101-86A0-65DCF93426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CFCF72-8E95-4DDF-B0E3-4ADA000BB0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A7780B-F53B-43A2-9C18-D6D83BCCB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84720-121C-43A3-9AFA-080A23EB2B13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E6E4E4-D0DC-4213-93FE-4A05D4A54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6538F7-99AC-4AF0-82F7-C16DD416F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7A2EB-CE7D-48BE-9AAD-32F21B312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363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929FA-E773-4630-885B-09B90E27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BDB9E3-6961-40E0-B561-8545507BCF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33C0B-5462-4804-8BE7-65274BC32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84720-121C-43A3-9AFA-080A23EB2B13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D066C-6C1D-4CA9-A41E-1CEC4ED74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9C077-AEEB-4FD5-A7A7-830391185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7A2EB-CE7D-48BE-9AAD-32F21B312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255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F60B6E-66DD-4FFF-9F2C-F6A3A10DAB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2133F3-AC69-47B0-94D7-E51C342FC2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B3B45-16ED-488D-A6B4-04B477272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84720-121C-43A3-9AFA-080A23EB2B13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14B11-F1E2-4351-B4F9-31C52766A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8168D-71C9-4BB7-835D-0073363F5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7A2EB-CE7D-48BE-9AAD-32F21B312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8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wearehorizontal.org/tech-background-2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837473B0-CC2E-450A-ABE3-18F120FF3D39}">
                <a1611:picAttrSrcUrl xmlns:a1611="http://schemas.microsoft.com/office/drawing/2016/11/main" r:id="rId14"/>
              </a:ext>
            </a:extLst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1E97E3-E487-40BB-9AB4-CD4E7D6D6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50BB8-2D03-4AD5-97C9-D7B42FFEA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C11A5-AA2F-473C-B873-835039C4FD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D84720-121C-43A3-9AFA-080A23EB2B13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A8CF9C-A15B-4EED-AA73-A683BD57D7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52D5D-D4CA-48E5-9F9D-023C62F979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7A2EB-CE7D-48BE-9AAD-32F21B312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642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7A09C-9FD1-4C1F-AA0A-E687E32478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Automated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A8EFD8-0723-40F9-AA14-A02C1E9967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Personalized for your needs</a:t>
            </a:r>
          </a:p>
        </p:txBody>
      </p:sp>
    </p:spTree>
    <p:extLst>
      <p:ext uri="{BB962C8B-B14F-4D97-AF65-F5344CB8AC3E}">
        <p14:creationId xmlns:p14="http://schemas.microsoft.com/office/powerpoint/2010/main" val="156360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56F95-D3FE-4DA3-80A1-86E1DBE19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464" y="433219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Issue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A0837-3338-4195-97B7-A6F013643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61666"/>
            <a:ext cx="11120336" cy="4915643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Tutoring is expensive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It can be </a:t>
            </a:r>
            <a:r>
              <a:rPr lang="en-US" b="1" dirty="0">
                <a:solidFill>
                  <a:schemeClr val="bg1"/>
                </a:solidFill>
              </a:rPr>
              <a:t>difficult to find mentors</a:t>
            </a:r>
            <a:endParaRPr lang="en-US" dirty="0">
              <a:solidFill>
                <a:schemeClr val="bg1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Issues in scheduling, location, personality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Online learning can be clunky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Often </a:t>
            </a:r>
            <a:r>
              <a:rPr lang="en-US" b="1" dirty="0">
                <a:solidFill>
                  <a:schemeClr val="bg1"/>
                </a:solidFill>
              </a:rPr>
              <a:t>not personalized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Only a </a:t>
            </a:r>
            <a:r>
              <a:rPr lang="en-US" b="1" dirty="0">
                <a:solidFill>
                  <a:schemeClr val="bg1"/>
                </a:solidFill>
              </a:rPr>
              <a:t>preset number of modules </a:t>
            </a:r>
            <a:r>
              <a:rPr lang="en-US" dirty="0">
                <a:solidFill>
                  <a:schemeClr val="bg1"/>
                </a:solidFill>
              </a:rPr>
              <a:t>to choose from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Relies on older, classroom style learning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Speed of learning != speed of teaching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F305C6D-D8D0-41FB-8A5E-63E29B35B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1455" y="24657"/>
            <a:ext cx="3545191" cy="2513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DD6FAFA-04B2-4DEA-9702-470DB62ECD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6646" y="3016251"/>
            <a:ext cx="3913924" cy="3261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06D3C1EA-5C5C-4958-ABE0-3C772C196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4810" y="24657"/>
            <a:ext cx="2747384" cy="2513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0644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D0476-8AE6-4E36-8501-46061C004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297" y="23248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Solution: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D6A7B-6E1E-4659-9EB4-0971A555A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297" y="1436148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Tutoring that works with you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Provides </a:t>
            </a:r>
            <a:r>
              <a:rPr lang="en-US" b="1" dirty="0">
                <a:solidFill>
                  <a:schemeClr val="bg1"/>
                </a:solidFill>
              </a:rPr>
              <a:t>real-time</a:t>
            </a:r>
            <a:r>
              <a:rPr lang="en-US" dirty="0">
                <a:solidFill>
                  <a:schemeClr val="bg1"/>
                </a:solidFill>
              </a:rPr>
              <a:t> feedback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Lets you </a:t>
            </a:r>
            <a:r>
              <a:rPr lang="en-US" b="1" dirty="0">
                <a:solidFill>
                  <a:schemeClr val="bg1"/>
                </a:solidFill>
              </a:rPr>
              <a:t>model your style </a:t>
            </a:r>
            <a:r>
              <a:rPr lang="en-US" dirty="0">
                <a:solidFill>
                  <a:schemeClr val="bg1"/>
                </a:solidFill>
              </a:rPr>
              <a:t>off of guides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Grows with you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FE84900A-E11A-4AC5-8404-2FAEC3CE9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1550" y="1436148"/>
            <a:ext cx="360045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BD46348B-3732-4936-BEEA-803595CAD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297" y="4958810"/>
            <a:ext cx="3159767" cy="1899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7168B392-7A33-43FA-AFF2-D7248A81E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7516" y="3926967"/>
            <a:ext cx="5824484" cy="2931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4851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D1DE8-F14D-4627-9FF5-315EC73BD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991" y="335942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Case Study: Karaoke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9CCC8-E70B-46FB-A968-B793E8456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991" y="1835353"/>
            <a:ext cx="10515600" cy="4351338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Code scours </a:t>
            </a:r>
            <a:r>
              <a:rPr lang="en-US" b="1" dirty="0">
                <a:solidFill>
                  <a:schemeClr val="bg1"/>
                </a:solidFill>
              </a:rPr>
              <a:t>millions of free songs </a:t>
            </a:r>
            <a:r>
              <a:rPr lang="en-US" dirty="0">
                <a:solidFill>
                  <a:schemeClr val="bg1"/>
                </a:solidFill>
              </a:rPr>
              <a:t>with tags (“supervised” data)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High-level</a:t>
            </a:r>
            <a:r>
              <a:rPr lang="en-US" dirty="0">
                <a:solidFill>
                  <a:schemeClr val="bg1"/>
                </a:solidFill>
              </a:rPr>
              <a:t>: genre, artist, male/female/other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Lower-level</a:t>
            </a:r>
            <a:r>
              <a:rPr lang="en-US" dirty="0">
                <a:solidFill>
                  <a:schemeClr val="bg1"/>
                </a:solidFill>
              </a:rPr>
              <a:t>: tone, pitch, intensity, nasality, difficulty, wpm, length of notes, range, etc.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Eventually the computer would be sophisticated enough to </a:t>
            </a:r>
            <a:r>
              <a:rPr lang="en-US" b="1" dirty="0">
                <a:solidFill>
                  <a:schemeClr val="bg1"/>
                </a:solidFill>
              </a:rPr>
              <a:t>create its own tags</a:t>
            </a:r>
          </a:p>
          <a:p>
            <a:r>
              <a:rPr lang="en-US" dirty="0">
                <a:solidFill>
                  <a:schemeClr val="bg1"/>
                </a:solidFill>
              </a:rPr>
              <a:t>Finds these patterns through their </a:t>
            </a:r>
            <a:r>
              <a:rPr lang="en-US" b="1" dirty="0">
                <a:solidFill>
                  <a:schemeClr val="bg1"/>
                </a:solidFill>
              </a:rPr>
              <a:t>mathematical representation </a:t>
            </a:r>
            <a:r>
              <a:rPr lang="en-US" dirty="0">
                <a:solidFill>
                  <a:schemeClr val="bg1"/>
                </a:solidFill>
              </a:rPr>
              <a:t>in the waveforms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Pattern 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chemeClr val="bg1"/>
                </a:solidFill>
              </a:rPr>
              <a:t> Math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074" name="Picture 2" descr="Karaoke in the Gopher Hole! - Weatherford Hotel">
            <a:extLst>
              <a:ext uri="{FF2B5EF4-FFF2-40B4-BE49-F238E27FC236}">
                <a16:creationId xmlns:a16="http://schemas.microsoft.com/office/drawing/2014/main" id="{7A014BA6-D089-45D1-B69F-A74CDF0D14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8748" y="0"/>
            <a:ext cx="2503251" cy="2503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Waveform plots illustrating the male calling song of Toxala Moulds... |  Download Scientific Diagram">
            <a:extLst>
              <a:ext uri="{FF2B5EF4-FFF2-40B4-BE49-F238E27FC236}">
                <a16:creationId xmlns:a16="http://schemas.microsoft.com/office/drawing/2014/main" id="{813175FA-07FC-4E29-8F76-4468C8B57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2D1D2FCC-A8CF-4DF9-824A-5716F641B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8614" y="4659549"/>
            <a:ext cx="6478620" cy="2091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413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8F6E8-1FB7-41BD-A66B-EFD373062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Case Study: Karaoke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9A09D-A490-4299-BBCD-C11C82AFA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User (Orpheus) </a:t>
            </a:r>
            <a:r>
              <a:rPr lang="en-US" b="1" dirty="0">
                <a:solidFill>
                  <a:schemeClr val="bg1"/>
                </a:solidFill>
              </a:rPr>
              <a:t>sings</a:t>
            </a:r>
            <a:r>
              <a:rPr lang="en-US" dirty="0">
                <a:solidFill>
                  <a:schemeClr val="bg1"/>
                </a:solidFill>
              </a:rPr>
              <a:t> into computer, and audioform is </a:t>
            </a:r>
            <a:r>
              <a:rPr lang="en-US" b="1" dirty="0">
                <a:solidFill>
                  <a:schemeClr val="bg1"/>
                </a:solidFill>
              </a:rPr>
              <a:t>captured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Series of 5-10 songs of various characteristics</a:t>
            </a:r>
          </a:p>
          <a:p>
            <a:r>
              <a:rPr lang="en-US" dirty="0">
                <a:solidFill>
                  <a:schemeClr val="bg1"/>
                </a:solidFill>
              </a:rPr>
              <a:t>Computer searches database, finds artists whose </a:t>
            </a:r>
            <a:r>
              <a:rPr lang="en-US" b="1" dirty="0">
                <a:solidFill>
                  <a:schemeClr val="bg1"/>
                </a:solidFill>
              </a:rPr>
              <a:t>voice most closely matches Orpheus</a:t>
            </a:r>
          </a:p>
          <a:p>
            <a:r>
              <a:rPr lang="en-US" dirty="0">
                <a:solidFill>
                  <a:schemeClr val="bg1"/>
                </a:solidFill>
              </a:rPr>
              <a:t>Finds songs that would be </a:t>
            </a:r>
            <a:r>
              <a:rPr lang="en-US" b="1" dirty="0">
                <a:solidFill>
                  <a:schemeClr val="bg1"/>
                </a:solidFill>
              </a:rPr>
              <a:t>easiest to sing </a:t>
            </a:r>
            <a:r>
              <a:rPr lang="en-US" dirty="0">
                <a:solidFill>
                  <a:schemeClr val="bg1"/>
                </a:solidFill>
              </a:rPr>
              <a:t>for their </a:t>
            </a:r>
            <a:r>
              <a:rPr lang="en-US" b="1" dirty="0">
                <a:solidFill>
                  <a:schemeClr val="bg1"/>
                </a:solidFill>
              </a:rPr>
              <a:t>particular voice</a:t>
            </a:r>
          </a:p>
          <a:p>
            <a:r>
              <a:rPr lang="en-US" b="1" dirty="0">
                <a:solidFill>
                  <a:schemeClr val="bg1"/>
                </a:solidFill>
              </a:rPr>
              <a:t>Orpheus chooses</a:t>
            </a:r>
            <a:r>
              <a:rPr lang="en-US" dirty="0">
                <a:solidFill>
                  <a:schemeClr val="bg1"/>
                </a:solidFill>
              </a:rPr>
              <a:t> some songs (could be outside this selection as well)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2C4AAC69-7143-4B2B-853C-AD6D2F61C9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288" y="4610910"/>
            <a:ext cx="4286250" cy="2247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614F363E-31BC-4918-B146-2059402B8B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0957" y="0"/>
            <a:ext cx="1901043" cy="2140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7501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10270-808E-473D-AE4A-5D2FC1A01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Case Study: Karaoke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6C216-1EB0-4FCC-9FF2-4B187EDDE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186" y="2055813"/>
            <a:ext cx="11527329" cy="4521968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Orpheus sings a song, computer overlaps his waveform with the actual song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Normalizes for volume, background noise, audio quality.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Mathematically finds differences, and translates back into physical representations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This line lasts longer on the waveform = hold this note longer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Pattern match at different timestep = too fast or too slow (autocorrelation)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Math 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 Patterns</a:t>
            </a: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Program graphically displays differences, highlighting what needs to be changed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0A85FB6-B370-4714-B605-EB771B052C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6702" y="0"/>
            <a:ext cx="4466086" cy="2070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1070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B8DFD-83F3-4CBA-B614-4A80AE238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D7682-B3C7-4B52-9D53-C33ED21FD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E1AF02C3-229D-44E3-90E4-6291BB949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11" y="1254767"/>
            <a:ext cx="5498492" cy="4922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78E32CF8-ED98-4452-ACD0-E6B5CE557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825624"/>
            <a:ext cx="5684844" cy="311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3412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99026-7650-4625-A4EA-56C0E8858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68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Case Study: Karaoke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484EF-0C20-467A-BA65-246D65287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53250"/>
            <a:ext cx="8112868" cy="5077061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Can offer: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continuous feedback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number showing how you are improving 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how close you are to the original 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and more</a:t>
            </a:r>
          </a:p>
          <a:p>
            <a:r>
              <a:rPr lang="en-US" dirty="0">
                <a:solidFill>
                  <a:schemeClr val="bg1"/>
                </a:solidFill>
              </a:rPr>
              <a:t>Program gets better as you use it more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Could even build an internal program which evaluates which methods of feedback produce the best results</a:t>
            </a:r>
          </a:p>
          <a:p>
            <a:r>
              <a:rPr lang="en-US" dirty="0">
                <a:solidFill>
                  <a:schemeClr val="bg1"/>
                </a:solidFill>
              </a:rPr>
              <a:t>Key is to always have visible representations of feedback</a:t>
            </a:r>
          </a:p>
          <a:p>
            <a:r>
              <a:rPr lang="en-US" dirty="0">
                <a:solidFill>
                  <a:schemeClr val="bg1"/>
                </a:solidFill>
              </a:rPr>
              <a:t>Utilize expert knowledge in construction of program and how to give feedback</a:t>
            </a: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9BA3365C-B742-49E9-898E-C62A00EDDE4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2868" y="1304619"/>
            <a:ext cx="4079132" cy="4658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7258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158C6-A28A-4AAA-B1BB-D179A445E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Uniqueness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BF51F-5838-4278-A845-A599A4B37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The idea of a computer providing feedback is not unique, but marrying it with machine learning might be</a:t>
            </a:r>
          </a:p>
          <a:p>
            <a:r>
              <a:rPr lang="en-US" dirty="0">
                <a:solidFill>
                  <a:schemeClr val="bg1"/>
                </a:solidFill>
              </a:rPr>
              <a:t>Requires no knowledge of music to start</a:t>
            </a:r>
          </a:p>
          <a:p>
            <a:r>
              <a:rPr lang="en-US" dirty="0">
                <a:solidFill>
                  <a:schemeClr val="bg1"/>
                </a:solidFill>
              </a:rPr>
              <a:t>Constantly learning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8FC8D8DF-457A-4F68-ADD1-9B435534D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745473"/>
            <a:ext cx="3890659" cy="3112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29948FB8-4DC3-424F-9CC2-523B50FC0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6945" y="3321996"/>
            <a:ext cx="5490633" cy="308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8357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0DB24-23CB-4EC8-AC34-190C2E420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Other ventures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E1814-1F46-4582-9FB8-9987CE95A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Hand-writing</a:t>
            </a:r>
          </a:p>
          <a:p>
            <a:r>
              <a:rPr lang="en-US" dirty="0">
                <a:solidFill>
                  <a:schemeClr val="bg1"/>
                </a:solidFill>
              </a:rPr>
              <a:t>Foreign language</a:t>
            </a:r>
          </a:p>
          <a:p>
            <a:r>
              <a:rPr lang="en-US" dirty="0">
                <a:solidFill>
                  <a:schemeClr val="bg1"/>
                </a:solidFill>
              </a:rPr>
              <a:t>Dance, yoga, home exercise</a:t>
            </a:r>
          </a:p>
          <a:p>
            <a:r>
              <a:rPr lang="en-US" dirty="0">
                <a:solidFill>
                  <a:schemeClr val="bg1"/>
                </a:solidFill>
              </a:rPr>
              <a:t>Speech therapy, accent training</a:t>
            </a:r>
          </a:p>
          <a:p>
            <a:r>
              <a:rPr lang="en-US" dirty="0">
                <a:solidFill>
                  <a:schemeClr val="bg1"/>
                </a:solidFill>
              </a:rPr>
              <a:t>Writing style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But this is creepy and I don’t like it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220" name="Picture 4" descr="How to Improve Your Handwriting (with Pictures) - wikiHow">
            <a:extLst>
              <a:ext uri="{FF2B5EF4-FFF2-40B4-BE49-F238E27FC236}">
                <a16:creationId xmlns:a16="http://schemas.microsoft.com/office/drawing/2014/main" id="{97062D1E-1A9F-4495-A580-13B332DEC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5301" y="258120"/>
            <a:ext cx="3810745" cy="2140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>
            <a:extLst>
              <a:ext uri="{FF2B5EF4-FFF2-40B4-BE49-F238E27FC236}">
                <a16:creationId xmlns:a16="http://schemas.microsoft.com/office/drawing/2014/main" id="{168AA32B-37B2-4591-AA33-61B5B3A52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779" y="2641008"/>
            <a:ext cx="5363791" cy="2656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6" name="Picture 10">
            <a:extLst>
              <a:ext uri="{FF2B5EF4-FFF2-40B4-BE49-F238E27FC236}">
                <a16:creationId xmlns:a16="http://schemas.microsoft.com/office/drawing/2014/main" id="{D46A3454-A190-42B8-89B7-D654B7045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168" y="4724197"/>
            <a:ext cx="3999801" cy="2133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1359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415</Words>
  <Application>Microsoft Office PowerPoint</Application>
  <PresentationFormat>Widescreen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Automated Learning</vt:lpstr>
      <vt:lpstr>Issue</vt:lpstr>
      <vt:lpstr>Solution: Machine Learning</vt:lpstr>
      <vt:lpstr>Case Study: Karaoke</vt:lpstr>
      <vt:lpstr>Case Study: Karaoke</vt:lpstr>
      <vt:lpstr>Case Study: Karaoke</vt:lpstr>
      <vt:lpstr>PowerPoint Presentation</vt:lpstr>
      <vt:lpstr>Case Study: Karaoke</vt:lpstr>
      <vt:lpstr>Uniqueness</vt:lpstr>
      <vt:lpstr>Other ventures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Learning</dc:title>
  <dc:creator>Adam Marrs</dc:creator>
  <cp:lastModifiedBy>Adam Marrs</cp:lastModifiedBy>
  <cp:revision>7</cp:revision>
  <dcterms:created xsi:type="dcterms:W3CDTF">2021-12-09T18:48:37Z</dcterms:created>
  <dcterms:modified xsi:type="dcterms:W3CDTF">2021-12-10T20:22:17Z</dcterms:modified>
</cp:coreProperties>
</file>